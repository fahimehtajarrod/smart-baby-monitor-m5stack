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24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4964" autoAdjust="0"/>
  </p:normalViewPr>
  <p:slideViewPr>
    <p:cSldViewPr snapToGrid="0" snapToObjects="1">
      <p:cViewPr varScale="1">
        <p:scale>
          <a:sx n="46" d="100"/>
          <a:sy n="46" d="100"/>
        </p:scale>
        <p:origin x="1060" y="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07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E2B0C-33CD-A30A-FF20-0DC3B9A9C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AC9BE-FA4F-FF51-176B-B2E5FFBC3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257B8-CADE-59CD-3971-1EEEB8CDF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C49EB-D359-8B3C-BE28-EFB29DE20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33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jpg"/><Relationship Id="rId4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20260704_19302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8120" y="0"/>
            <a:ext cx="43708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52360" y="0"/>
            <a:ext cx="54864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452360" y="0"/>
            <a:ext cx="109728" cy="6858000"/>
          </a:xfrm>
          <a:prstGeom prst="rect">
            <a:avLst/>
          </a:prstGeom>
          <a:solidFill>
            <a:srgbClr val="0B122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543800" y="0"/>
            <a:ext cx="109728" cy="6858000"/>
          </a:xfrm>
          <a:prstGeom prst="rect">
            <a:avLst/>
          </a:prstGeom>
          <a:solidFill>
            <a:srgbClr val="0B1220">
              <a:alpha val="6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635240" y="0"/>
            <a:ext cx="109728" cy="6858000"/>
          </a:xfrm>
          <a:prstGeom prst="rect">
            <a:avLst/>
          </a:prstGeom>
          <a:solidFill>
            <a:srgbClr val="0B1220">
              <a:alpha val="5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0"/>
            <a:ext cx="109728" cy="6858000"/>
          </a:xfrm>
          <a:prstGeom prst="rect">
            <a:avLst/>
          </a:prstGeom>
          <a:solidFill>
            <a:srgbClr val="0B1220">
              <a:alpha val="41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818120" y="0"/>
            <a:ext cx="109728" cy="6858000"/>
          </a:xfrm>
          <a:prstGeom prst="rect">
            <a:avLst/>
          </a:prstGeom>
          <a:solidFill>
            <a:srgbClr val="0B1220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909560" y="0"/>
            <a:ext cx="109728" cy="6858000"/>
          </a:xfrm>
          <a:prstGeom prst="rect">
            <a:avLst/>
          </a:prstGeom>
          <a:solidFill>
            <a:srgbClr val="0B122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0E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COURSE FINAL PRESENTATION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187452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IoT Baby Monitor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640080" y="32461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safety monitoring with the M5Stack ecosystem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5394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Fahimeh Tajarrod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Joseph Oakes  •  Internet of Things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E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smart baby monitor?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baby left alone in a room is exposed to risks a caregiver can't always watch for in real time — uncomfortable room conditions, a wet crib, or unexpected movement.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289407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80720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temperature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31272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hot or too cold for comfort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675888"/>
            <a:ext cx="457200" cy="45720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" y="3735324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64845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Bedding humidity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188720" y="396849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 wet mattress under the baby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517136"/>
            <a:ext cx="457200" cy="45720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" y="4576572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448970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motion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188720" y="480974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detected near the crib edge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5358384"/>
            <a:ext cx="457200" cy="45720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" y="5417820"/>
            <a:ext cx="338328" cy="3383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53309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 &amp; tilt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188720" y="56509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 itself is knocked over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635240" y="155448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121B2E"/>
          </a:solidFill>
          <a:ln w="12700">
            <a:solidFill>
              <a:srgbClr val="24334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7955280" y="1874520"/>
            <a:ext cx="548640" cy="54864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6603" y="1945843"/>
            <a:ext cx="405994" cy="40599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641080" y="19476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E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7955280" y="260604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self-contained IoT device on M5Stack Core that watches the room, reacts instantly with visual and audio cues, and keeps a remote caregiver informed — on the device,, and on their phone.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7955280" y="4251960"/>
            <a:ext cx="3429000" cy="9144"/>
          </a:xfrm>
          <a:prstGeom prst="rect">
            <a:avLst/>
          </a:prstGeom>
          <a:solidFill>
            <a:srgbClr val="243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7955280" y="4434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</a:t>
            </a: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M5Stack Core (ESP32) • UIFlow 1.15.3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955280" y="4846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model: </a:t>
            </a: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Blockly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955280" y="52578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Sensors: </a:t>
            </a: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III, PIR, IMU, RGB, Angle dial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BIG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582" y="-476963"/>
            <a:ext cx="3793481" cy="396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project,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30045" y="219917"/>
            <a:ext cx="7081213" cy="5966394"/>
          </a:xfrm>
          <a:prstGeom prst="roundRect">
            <a:avLst>
              <a:gd name="adj" fmla="val 1382"/>
            </a:avLst>
          </a:prstGeom>
          <a:solidFill>
            <a:srgbClr val="FFFFFF"/>
          </a:solidFill>
          <a:ln w="12700">
            <a:solidFill>
              <a:srgbClr val="24334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assets/BigPicture_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78608" y="412191"/>
            <a:ext cx="6834800" cy="56950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BIG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operating modes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121B2E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65376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0E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6537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508760" y="1810512"/>
            <a:ext cx="475488" cy="475488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573" y="1872325"/>
            <a:ext cx="351861" cy="3518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8840" y="1783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Morning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148840" y="2249424"/>
            <a:ext cx="928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0E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state whenever the baby is in the crib without someone in the room.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148840" y="2615184"/>
            <a:ext cx="9281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0E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 </a:t>
            </a: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loop re-reads ENV III, PIR and the IMU, and drives the RGB/status labels from those readings.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3310128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121B2E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77240" y="3529584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B47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352958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508760" y="3474720"/>
            <a:ext cx="475488" cy="475488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573" y="3536533"/>
            <a:ext cx="351861" cy="35186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148840" y="34472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Night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2148840" y="3913632"/>
            <a:ext cx="928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47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settle the baby to sleep.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2148840" y="4279392"/>
            <a:ext cx="9281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47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 </a:t>
            </a: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a short Brahms lullaby with a synchronized LED bar color dance.</a:t>
            </a:r>
            <a:endParaRPr lang="en-US" sz="1250" strike="sngStrike" dirty="0"/>
          </a:p>
        </p:txBody>
      </p:sp>
      <p:sp>
        <p:nvSpPr>
          <p:cNvPr id="20" name="Shape 16"/>
          <p:cNvSpPr/>
          <p:nvPr/>
        </p:nvSpPr>
        <p:spPr>
          <a:xfrm>
            <a:off x="548640" y="4974336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121B2E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77240" y="5193792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6B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77240" y="519379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1508760" y="5138928"/>
            <a:ext cx="475488" cy="475488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0573" y="5200741"/>
            <a:ext cx="351861" cy="35186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148840" y="51114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Standby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2148840" y="5577840"/>
            <a:ext cx="928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when the baby is being held by a caregiver and doesn't need monitoring.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2148840" y="5943600"/>
            <a:ext cx="9281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 </a:t>
            </a: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checks are skipped entirely and all on-screen labels are hidden — the device is temporarily idle until switched back.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demo — what to watch for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of the device reacting in real time. The photos below are captured straight off the device screen and RGB unit.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63735"/>
            <a:ext cx="2697480" cy="2913261"/>
          </a:xfrm>
          <a:prstGeom prst="roundRect">
            <a:avLst>
              <a:gd name="adj" fmla="val 3390"/>
            </a:avLst>
          </a:prstGeom>
          <a:solidFill>
            <a:srgbClr val="121B2E"/>
          </a:solidFill>
          <a:ln w="15875">
            <a:solidFill>
              <a:srgbClr val="10E8A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85800" y="4299757"/>
            <a:ext cx="2423160" cy="292608"/>
          </a:xfrm>
          <a:prstGeom prst="roundRect">
            <a:avLst>
              <a:gd name="adj" fmla="val 15625"/>
            </a:avLst>
          </a:prstGeom>
          <a:solidFill>
            <a:srgbClr val="10E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4299757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4619797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status — normal room conditions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10712" y="3213218"/>
            <a:ext cx="2697480" cy="2913261"/>
          </a:xfrm>
          <a:prstGeom prst="roundRect">
            <a:avLst>
              <a:gd name="adj" fmla="val 3390"/>
            </a:avLst>
          </a:prstGeom>
          <a:solidFill>
            <a:srgbClr val="121B2E"/>
          </a:solidFill>
          <a:ln w="15875">
            <a:solidFill>
              <a:srgbClr val="FFA72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20260704_19322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47872" y="3503776"/>
            <a:ext cx="2423160" cy="175402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47872" y="5349240"/>
            <a:ext cx="2423160" cy="292608"/>
          </a:xfrm>
          <a:prstGeom prst="roundRect">
            <a:avLst>
              <a:gd name="adj" fmla="val 15625"/>
            </a:avLst>
          </a:prstGeom>
          <a:solidFill>
            <a:srgbClr val="FFA7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547872" y="5349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547872" y="5669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status — bedding humidity above threshold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72784" y="2163735"/>
            <a:ext cx="2697480" cy="2913261"/>
          </a:xfrm>
          <a:prstGeom prst="roundRect">
            <a:avLst>
              <a:gd name="adj" fmla="val 3390"/>
            </a:avLst>
          </a:prstGeom>
          <a:solidFill>
            <a:srgbClr val="121B2E"/>
          </a:solidFill>
          <a:ln w="15875">
            <a:solidFill>
              <a:srgbClr val="FF5C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20260704_193040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9944" y="2454293"/>
            <a:ext cx="2423160" cy="175402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409944" y="4299757"/>
            <a:ext cx="2423160" cy="292608"/>
          </a:xfrm>
          <a:prstGeom prst="roundRect">
            <a:avLst>
              <a:gd name="adj" fmla="val 15625"/>
            </a:avLst>
          </a:prstGeom>
          <a:solidFill>
            <a:srgbClr val="FF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6409944" y="4299757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— MOTION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409944" y="4619797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status — PIR sensor triggered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134856" y="3213218"/>
            <a:ext cx="2697480" cy="2913261"/>
          </a:xfrm>
          <a:prstGeom prst="roundRect">
            <a:avLst>
              <a:gd name="adj" fmla="val 3390"/>
            </a:avLst>
          </a:prstGeom>
          <a:solidFill>
            <a:srgbClr val="121B2E"/>
          </a:solidFill>
          <a:ln w="15875">
            <a:solidFill>
              <a:srgbClr val="FF5C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20260704_193539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72016" y="3503776"/>
            <a:ext cx="2423160" cy="175402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272016" y="5349240"/>
            <a:ext cx="2423160" cy="292608"/>
          </a:xfrm>
          <a:prstGeom prst="roundRect">
            <a:avLst>
              <a:gd name="adj" fmla="val 15625"/>
            </a:avLst>
          </a:prstGeom>
          <a:solidFill>
            <a:srgbClr val="FF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9272016" y="5349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— FALLEN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9272016" y="5669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status — IMU detects a tilt/fall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F407B1C-F3BF-4F8A-5AAC-A507166222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454293"/>
            <a:ext cx="2423161" cy="17404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logic — RGB status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i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III reports two independent signals: temperature for room comfort, humidity for bedding wetness (the sensor sits near the mattress). Every 500 </a:t>
            </a:r>
            <a:r>
              <a:rPr lang="en-US" sz="1250" i="1" dirty="0" err="1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250" i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main loop re-reads ENV III, PIR, and the IMU, and maps the result to one of three states: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121B2E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3DD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91640" y="2130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569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R:0 G:255 B:0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130552"/>
            <a:ext cx="9144" cy="841248"/>
          </a:xfrm>
          <a:prstGeom prst="rect">
            <a:avLst/>
          </a:prstGeom>
          <a:solidFill>
            <a:srgbClr val="243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2130552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temperature and bedding condition are both within the normal range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121B2E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8680" y="3657600"/>
            <a:ext cx="548640" cy="548640"/>
          </a:xfrm>
          <a:prstGeom prst="ellipse">
            <a:avLst/>
          </a:prstGeom>
          <a:solidFill>
            <a:srgbClr val="FFA7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91640" y="35021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39410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R:255 G:165 B:0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3502152"/>
            <a:ext cx="9144" cy="841248"/>
          </a:xfrm>
          <a:prstGeom prst="rect">
            <a:avLst/>
          </a:prstGeom>
          <a:solidFill>
            <a:srgbClr val="243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3502152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temperature above 36°C, or bedding humidity above 50% (possible wet mattress)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121B2E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68680" y="5029200"/>
            <a:ext cx="548640" cy="548640"/>
          </a:xfrm>
          <a:prstGeom prst="ellipse">
            <a:avLst/>
          </a:prstGeom>
          <a:solidFill>
            <a:srgbClr val="FF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91640" y="48737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91640" y="53126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R:255 G:0 B:0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43400" y="4873752"/>
            <a:ext cx="9144" cy="841248"/>
          </a:xfrm>
          <a:prstGeom prst="rect">
            <a:avLst/>
          </a:prstGeom>
          <a:solidFill>
            <a:srgbClr val="243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4873752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detected near the crib, or the device itself is tilted / fallen. A fall is confirmed when the IMU's Z-axis acceleration drops below 0.5 g, indicating the device is no longer upright.</a:t>
            </a:r>
          </a:p>
        </p:txBody>
      </p:sp>
      <p:sp>
        <p:nvSpPr>
          <p:cNvPr id="23" name="Text 21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Warning or Alert triggers an immediate EZ-Data sync, in addition to the normal 30-second heartbeat. Alert conditions (fall detection via IMU or motion via PIR) also trigger an audible alarm from the built-in speaker, alerting nearby caregivers instantly alongside the red RGB indicator.</a:t>
            </a:r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Night mode — lullaby &amp; LED dance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0" cy="4572000"/>
          </a:xfrm>
          <a:prstGeom prst="roundRect">
            <a:avLst>
              <a:gd name="adj" fmla="val 2667"/>
            </a:avLst>
          </a:prstGeom>
          <a:solidFill>
            <a:srgbClr val="121B2E"/>
          </a:solidFill>
          <a:ln w="15875">
            <a:solidFill>
              <a:srgbClr val="B478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assets/lullab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1828800"/>
            <a:ext cx="347472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17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Blockly logic for the lullaby() function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937760" y="1877084"/>
            <a:ext cx="502920" cy="50292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140" y="1942464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23560" y="18496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Brahms lullaby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623560" y="2215412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down on purpose — soothing enough for sleep, short enough to keep the device responsive.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937760" y="2992652"/>
            <a:ext cx="502920" cy="50292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140" y="3058032"/>
            <a:ext cx="372161" cy="3721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23560" y="29652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Synchronized LED bar dance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623560" y="33309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note pairs with a shifting blue → purple color on the LED bar.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24" name="Picture 23" descr="img_goodn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160520"/>
            <a:ext cx="6537960" cy="20107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sync — EZ-Data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cloud's copy of the room status fresh, without stalling the device if the network misbehaves.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577840" cy="2194560"/>
          </a:xfrm>
          <a:prstGeom prst="roundRect">
            <a:avLst>
              <a:gd name="adj" fmla="val 5000"/>
            </a:avLst>
          </a:prstGeom>
          <a:solidFill>
            <a:srgbClr val="121B2E"/>
          </a:solidFill>
          <a:ln w="12700">
            <a:solidFill>
              <a:srgbClr val="24334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EZdat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084832"/>
            <a:ext cx="521208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1605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topics in the EZ-Data dashboard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4526280"/>
            <a:ext cx="5577840" cy="1691640"/>
          </a:xfrm>
          <a:prstGeom prst="roundRect">
            <a:avLst>
              <a:gd name="adj" fmla="val 6486"/>
            </a:avLst>
          </a:prstGeom>
          <a:solidFill>
            <a:srgbClr val="121B2E"/>
          </a:solidFill>
          <a:ln w="12700">
            <a:solidFill>
              <a:srgbClr val="24334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assets/EZ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" y="4663440"/>
            <a:ext cx="5212080" cy="1417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92240" y="1965960"/>
            <a:ext cx="502920" cy="50292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7620" y="2031340"/>
            <a:ext cx="372161" cy="3721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78040" y="19385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30-second sync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7178040" y="2304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humidity, motion and mode are pushed to EZ-Data every 30 seconds, so the cloud never falls far behind the device.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492240" y="3447288"/>
            <a:ext cx="502920" cy="50292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7620" y="3512668"/>
            <a:ext cx="372161" cy="37216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78040" y="34198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push on critical events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7178040" y="3785616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Motion, a fall, or a mode change skips the timer and syncs immediately — safety-relevant changes reach the </a:t>
            </a:r>
            <a:r>
              <a:rPr lang="en-US" sz="1250" dirty="0" err="1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EZdata</a:t>
            </a: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(and the phone) right away.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492240" y="4928616"/>
            <a:ext cx="502920" cy="50292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7620" y="4993996"/>
            <a:ext cx="372161" cy="37216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78040" y="49011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to connection drops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178040" y="5266944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sync call is wrapped in try/except — a failed attempt just marks “Last sync: ERR” locally instead of freezing the monitoring loop.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control — mobile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092440" y="1239140"/>
            <a:ext cx="3566160" cy="5253100"/>
          </a:xfrm>
          <a:prstGeom prst="roundRect">
            <a:avLst>
              <a:gd name="adj" fmla="val 4615"/>
            </a:avLst>
          </a:prstGeom>
          <a:solidFill>
            <a:srgbClr val="121B2E"/>
          </a:solidFill>
          <a:ln w="15875">
            <a:solidFill>
              <a:srgbClr val="24334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assets/mobil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21040" y="1437423"/>
            <a:ext cx="3108960" cy="488691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1757020"/>
            <a:ext cx="372161" cy="3721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66420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&amp; Mode labels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34440" y="202996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IMU status and current mode, refreshed automatically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2762860"/>
            <a:ext cx="372161" cy="3721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6700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 / Humidity / Motion / Tilt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234440" y="303580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telemetry shown on the device, mirrored remotely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3768700"/>
            <a:ext cx="372161" cy="37216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67588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/ Night / Standby buttons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234440" y="404164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mode switch — identical to pressing A / B / C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4774540"/>
            <a:ext cx="372161" cy="37216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34440" y="468172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slider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234440" y="50474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speaker volume without touching the device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548640" y="58521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the UIFlow Remote+ panel — same variables driving both screens keep device and phone in sync.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logging — SD card JSON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sync and every error is also written locally, so nothing is lost if Wi-Fi drops.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0A0F1C"/>
          </a:solidFill>
          <a:ln w="15875">
            <a:solidFill>
              <a:srgbClr val="10E8A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40680" cy="502920"/>
          </a:xfrm>
          <a:prstGeom prst="roundRect">
            <a:avLst>
              <a:gd name="adj" fmla="val 18182"/>
            </a:avLst>
          </a:prstGeom>
          <a:solidFill>
            <a:srgbClr val="10E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payload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/sd/JSON/telemetry_&lt;ts&gt;.json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4983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</a:p>
          <a:p>
            <a:pPr>
              <a:lnSpc>
                <a:spcPct val="135000"/>
              </a:lnSpc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, "20260625210844"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"device_id": "M5_BABY_MONITOR_01",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"current_mode": "Morning",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"telemetry": {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"ambient_temperature_c": 29.08,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"relative_humidity_pct": 35.52,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"motion_detected": false,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"imu_tilt_deg": 0.083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0A0F1C"/>
          </a:solidFill>
          <a:ln w="15875">
            <a:solidFill>
              <a:srgbClr val="FFA72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0" y="2057400"/>
            <a:ext cx="5440680" cy="502920"/>
          </a:xfrm>
          <a:prstGeom prst="roundRect">
            <a:avLst>
              <a:gd name="adj" fmla="val 18182"/>
            </a:avLst>
          </a:prstGeom>
          <a:solidFill>
            <a:srgbClr val="FFA7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log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A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/sd/LOGS/error_&lt;ts&gt;.json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3017520"/>
            <a:ext cx="4983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>
              <a:lnSpc>
                <a:spcPct val="135000"/>
              </a:lnSpc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"20260625210844", 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"error_id": "M5_BABY_MONITOR_01_ERROR",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"severity": "Warning",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"hardware_component": "EzData",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"error_details": {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"error_code": 503,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"message": "EzData failed.",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"retry_attempt": 1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D936D3-EACA-484A-C15B-D3901177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FC33C1-B0A2-DF8D-8B7C-54B24A17F96B}"/>
              </a:ext>
            </a:extLst>
          </p:cNvPr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LIVE DEMO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04FE14-57BF-08B5-2390-BC7737E3AB58}"/>
              </a:ext>
            </a:extLst>
          </p:cNvPr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</a:t>
            </a:r>
            <a:endParaRPr lang="en-US" sz="320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05B72E15-95D5-FE71-1E2E-A4AAEBB555AF}"/>
              </a:ext>
            </a:extLst>
          </p:cNvPr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7506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E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challenges &amp; fixes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121B2E"/>
          </a:solidFill>
          <a:ln w="12700">
            <a:solidFill>
              <a:srgbClr val="24334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883664"/>
            <a:ext cx="457200" cy="45720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1943100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323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2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Intermittent Wi-Fi errors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29077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network call runs inside try / except; failures fall back gracefully instead of crashing the loop.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340075" y="164592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121B2E"/>
          </a:solidFill>
          <a:ln w="12700">
            <a:solidFill>
              <a:srgbClr val="24334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96107" y="1883664"/>
            <a:ext cx="457200" cy="45720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543" y="1943100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96107" y="24323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B47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Lullaby blocked the main loop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596107" y="29077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Speaker.sing() is a blocking call — a full-length lullaby froze sensor checks and buttons, so we trimmed the track to keep Good Night responsive.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121B2E"/>
          </a:solidFill>
          <a:ln w="12700">
            <a:solidFill>
              <a:srgbClr val="24334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04672" y="4261104"/>
            <a:ext cx="457200" cy="45720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4320540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8097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2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RAM on the ESP32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04672" y="528523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Blockly structures were slowing things down, so we cut unnecessary function calls and simplified the block layout to lighten the program.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402336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121B2E"/>
          </a:solidFill>
          <a:ln w="12700">
            <a:solidFill>
              <a:srgbClr val="24334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81144" y="4261104"/>
            <a:ext cx="457200" cy="45720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0580" y="4320540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81144" y="48097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E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device, cloud &amp; phone aligned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81144" y="528523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the 30-second heartbeat plus instant sync-on-event so the device, EZ-Data and the mobile dashboard stay nearly in sync without dropping alerts.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ADE77E5F-E189-BA17-FFAB-1454BE0A53FC}"/>
              </a:ext>
            </a:extLst>
          </p:cNvPr>
          <p:cNvSpPr/>
          <p:nvPr/>
        </p:nvSpPr>
        <p:spPr>
          <a:xfrm>
            <a:off x="8150074" y="1645920"/>
            <a:ext cx="3529584" cy="4526279"/>
          </a:xfrm>
          <a:prstGeom prst="roundRect">
            <a:avLst>
              <a:gd name="adj" fmla="val 4255"/>
            </a:avLst>
          </a:prstGeom>
          <a:solidFill>
            <a:srgbClr val="121B2E"/>
          </a:solidFill>
          <a:ln w="12700">
            <a:solidFill>
              <a:srgbClr val="24334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7" name="Picture 36" descr="img_challeng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1645920"/>
            <a:ext cx="3529584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E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lessons learned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53207" y="164592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121B2E"/>
          </a:solidFill>
          <a:ln w="12700">
            <a:solidFill>
              <a:srgbClr val="24334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09239" y="1883664"/>
            <a:ext cx="457200" cy="45720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75" y="1943100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9239" y="24323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E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calls have a system-wide cost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809239" y="29077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blocking call, like a lullaby, can stall an entire embedded loop — real-time systems need to budget every blocking operation.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360858" y="164592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121B2E"/>
          </a:solidFill>
          <a:ln w="12700">
            <a:solidFill>
              <a:srgbClr val="24334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616890" y="1883664"/>
            <a:ext cx="457200" cy="45720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326" y="1943100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16890" y="24323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E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constraints shape code structure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616890" y="29077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constrained hardware, how you structure the program is a performance decision, not just style — every extra call and block has a cost.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121B2E"/>
          </a:solidFill>
          <a:ln w="12700">
            <a:solidFill>
              <a:srgbClr val="24334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04672" y="4261104"/>
            <a:ext cx="457200" cy="45720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4320540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8097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E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Multi-surface sync must be designed, not bolted 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04672" y="528523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device, the cloud, and the phone showing the same state taught us that synchronization timing is a first-class design problem.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360858" y="402336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121B2E"/>
          </a:solidFill>
          <a:ln w="12700">
            <a:solidFill>
              <a:srgbClr val="24334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616890" y="4261104"/>
            <a:ext cx="457200" cy="45720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6326" y="4320540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616890" y="48097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E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UIs, one source of truth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4616890" y="528523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device screen and the mobile dashboard bound to the same variables avoided state drift between them.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1699D064-B616-22B8-CC84-00384D768B42}"/>
              </a:ext>
            </a:extLst>
          </p:cNvPr>
          <p:cNvSpPr/>
          <p:nvPr/>
        </p:nvSpPr>
        <p:spPr>
          <a:xfrm>
            <a:off x="8140384" y="1642454"/>
            <a:ext cx="3529584" cy="4529745"/>
          </a:xfrm>
          <a:prstGeom prst="roundRect">
            <a:avLst>
              <a:gd name="adj" fmla="val 4255"/>
            </a:avLst>
          </a:prstGeom>
          <a:solidFill>
            <a:srgbClr val="121B2E"/>
          </a:solidFill>
          <a:ln w="12700">
            <a:solidFill>
              <a:srgbClr val="24334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7" name="Picture 36" descr="img_less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1645920"/>
            <a:ext cx="3529584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version — what we'd add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9584" cy="3566160"/>
          </a:xfrm>
          <a:prstGeom prst="roundRect">
            <a:avLst>
              <a:gd name="adj" fmla="val 3109"/>
            </a:avLst>
          </a:prstGeom>
          <a:solidFill>
            <a:srgbClr val="121B2E"/>
          </a:solidFill>
          <a:ln w="15875">
            <a:solidFill>
              <a:srgbClr val="B478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47672" y="2194560"/>
            <a:ext cx="731520" cy="73152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770" y="228965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4612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B47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Microphone-based sound detection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2980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UIFlow-compatible microphone unit to detect crying or distress sounds.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29584" cy="3566160"/>
          </a:xfrm>
          <a:prstGeom prst="roundRect">
            <a:avLst>
              <a:gd name="adj" fmla="val 3109"/>
            </a:avLst>
          </a:prstGeom>
          <a:solidFill>
            <a:srgbClr val="121B2E"/>
          </a:solidFill>
          <a:ln w="15875">
            <a:solidFill>
              <a:srgbClr val="22C3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24144" y="2194560"/>
            <a:ext cx="731520" cy="73152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242" y="2289658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324612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2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 to the caregiver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9432" y="3977640"/>
            <a:ext cx="2980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 SMS / Telegram / email alert the moment status turns Warning or Alert, so no one has to keep the dashboard open.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29584" cy="3566160"/>
          </a:xfrm>
          <a:prstGeom prst="roundRect">
            <a:avLst>
              <a:gd name="adj" fmla="val 3109"/>
            </a:avLst>
          </a:prstGeom>
          <a:solidFill>
            <a:srgbClr val="121B2E"/>
          </a:solidFill>
          <a:ln w="15875">
            <a:solidFill>
              <a:srgbClr val="10E8A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20" name="Picture 19" descr="img_fu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3" y="1828800"/>
            <a:ext cx="3529584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52360" y="0"/>
            <a:ext cx="109728" cy="6858000"/>
          </a:xfrm>
          <a:prstGeom prst="rect">
            <a:avLst/>
          </a:prstGeom>
          <a:solidFill>
            <a:srgbClr val="0B122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543800" y="0"/>
            <a:ext cx="109728" cy="6858000"/>
          </a:xfrm>
          <a:prstGeom prst="rect">
            <a:avLst/>
          </a:prstGeom>
          <a:solidFill>
            <a:srgbClr val="0B1220">
              <a:alpha val="6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635240" y="0"/>
            <a:ext cx="109728" cy="6858000"/>
          </a:xfrm>
          <a:prstGeom prst="rect">
            <a:avLst/>
          </a:prstGeom>
          <a:solidFill>
            <a:srgbClr val="0B1220">
              <a:alpha val="5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726680" y="0"/>
            <a:ext cx="109728" cy="6858000"/>
          </a:xfrm>
          <a:prstGeom prst="rect">
            <a:avLst/>
          </a:prstGeom>
          <a:solidFill>
            <a:srgbClr val="0B1220">
              <a:alpha val="41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818120" y="0"/>
            <a:ext cx="109728" cy="6858000"/>
          </a:xfrm>
          <a:prstGeom prst="rect">
            <a:avLst/>
          </a:prstGeom>
          <a:solidFill>
            <a:srgbClr val="0B1220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909560" y="0"/>
            <a:ext cx="109728" cy="6858000"/>
          </a:xfrm>
          <a:prstGeom prst="rect">
            <a:avLst/>
          </a:prstGeom>
          <a:solidFill>
            <a:srgbClr val="0B122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903720" y="0"/>
            <a:ext cx="54864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1371600"/>
            <a:ext cx="640080" cy="64008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24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70" y="145481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" y="21945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0E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8640" y="260604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594360" y="37947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safe, self-contained IoT monitor that senses, reacts, and reports — on the device, in the cloud, and in a caregiver's pocket.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94360" y="5257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Fahimeh Tajarrod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fahimehtajarrod@gmail.com</a:t>
            </a:r>
            <a:endParaRPr lang="en-US" sz="1300" dirty="0"/>
          </a:p>
        </p:txBody>
      </p:sp>
      <p:pic>
        <p:nvPicPr>
          <p:cNvPr id="17" name="Image 0" descr="assets/20260704_193026.jpg">
            <a:extLst>
              <a:ext uri="{FF2B5EF4-FFF2-40B4-BE49-F238E27FC236}">
                <a16:creationId xmlns:a16="http://schemas.microsoft.com/office/drawing/2014/main" id="{499110C8-1AB3-71DD-C833-72D330C7DE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18120" y="0"/>
            <a:ext cx="437083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3225</Words>
  <Application>Microsoft Office PowerPoint</Application>
  <PresentationFormat>Widescreen</PresentationFormat>
  <Paragraphs>194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IoT Baby Monitor</dc:title>
  <dc:subject>PptxGenJS Presentation</dc:subject>
  <dc:creator>Fahimeh Tajarrod</dc:creator>
  <cp:lastModifiedBy>Fae Tajarrod</cp:lastModifiedBy>
  <cp:revision>11</cp:revision>
  <dcterms:created xsi:type="dcterms:W3CDTF">2026-07-06T18:34:27Z</dcterms:created>
  <dcterms:modified xsi:type="dcterms:W3CDTF">2026-07-10T09:57:18Z</dcterms:modified>
</cp:coreProperties>
</file>